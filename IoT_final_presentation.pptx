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2" r:id="rId6"/>
    <p:sldId id="257" r:id="rId7"/>
    <p:sldId id="267" r:id="rId8"/>
    <p:sldId id="261" r:id="rId9"/>
    <p:sldId id="258" r:id="rId10"/>
    <p:sldId id="269" r:id="rId11"/>
    <p:sldId id="263" r:id="rId12"/>
    <p:sldId id="270" r:id="rId13"/>
    <p:sldId id="26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82A"/>
    <a:srgbClr val="727272"/>
    <a:srgbClr val="007C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16DE8-E20C-B17E-E024-2B323977F4D7}" v="294" dt="2025-12-27T16:13:28.998"/>
    <p1510:client id="{637E47DC-14FD-ED5F-522A-51211758E8C0}" v="5" dt="2025-12-27T16:08:48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07C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075F0702-5A13-1349-A296-951553656D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4129" y="5244663"/>
            <a:ext cx="7825947" cy="916652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Fira Sans Medium" panose="020B0503050000020004" pitchFamily="34" charset="0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it-IT"/>
              <a:t>Fare clic per modificare l’autore delle slide</a:t>
            </a:r>
          </a:p>
        </p:txBody>
      </p:sp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BACD2019-637B-3D4C-A8D4-30C84AABC93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44237" y="1613338"/>
            <a:ext cx="7825947" cy="20996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Roboto Slab"/>
              <a:buNone/>
              <a:defRPr sz="3200" b="1" i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Calibri Light" panose="020F0302020204030204" pitchFamily="34" charset="0"/>
                <a:sym typeface="Roboto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>
            <a:r>
              <a:rPr lang="it-IT"/>
              <a:t>Fare clic per modificare il titolo delle slide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CC95D-4677-2D48-8044-4BC81EDFDD6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4129" y="4091492"/>
            <a:ext cx="7825947" cy="74927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it-IT"/>
              <a:t>Fare clic per modificare il sottotitolo delle slide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70F04EF-A0E0-914F-9851-B900B2F9B6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129" y="647060"/>
            <a:ext cx="3004154" cy="56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6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;p2">
            <a:extLst>
              <a:ext uri="{FF2B5EF4-FFF2-40B4-BE49-F238E27FC236}">
                <a16:creationId xmlns:a16="http://schemas.microsoft.com/office/drawing/2014/main" id="{15FBA683-86A3-41C9-8DB1-2E9A3E09E28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44237" y="1650670"/>
            <a:ext cx="7825947" cy="45106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Roboto Slab"/>
              <a:buNone/>
              <a:defRPr sz="3200" b="1" i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Calibri Light" panose="020F0302020204030204" pitchFamily="34" charset="0"/>
                <a:sym typeface="Roboto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>
            <a:r>
              <a:rPr lang="it-IT"/>
              <a:t>Fare clic per modificare il titolo delle slide</a:t>
            </a:r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15B13CE-939A-7945-B872-AA669AE979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237" y="647059"/>
            <a:ext cx="3004160" cy="56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0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 + sottotitolo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D39042D-E5F6-354C-AE48-85CA368F3EE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4130" y="4512247"/>
            <a:ext cx="7825840" cy="906143"/>
          </a:xfrm>
        </p:spPr>
        <p:txBody>
          <a:bodyPr anchor="ctr">
            <a:normAutofit/>
          </a:bodyPr>
          <a:lstStyle>
            <a:lvl1pPr marL="0" indent="0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it-IT"/>
              <a:t>Fare clic per modificare il sottotitolo della sezione</a:t>
            </a:r>
          </a:p>
        </p:txBody>
      </p:sp>
      <p:sp>
        <p:nvSpPr>
          <p:cNvPr id="6" name="Google Shape;10;p2">
            <a:extLst>
              <a:ext uri="{FF2B5EF4-FFF2-40B4-BE49-F238E27FC236}">
                <a16:creationId xmlns:a16="http://schemas.microsoft.com/office/drawing/2014/main" id="{15FBA683-86A3-41C9-8DB1-2E9A3E09E28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44237" y="1602829"/>
            <a:ext cx="7825947" cy="24229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Roboto Slab"/>
              <a:buNone/>
              <a:defRPr sz="3200" b="1" i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Calibri Light" panose="020F0302020204030204" pitchFamily="34" charset="0"/>
                <a:sym typeface="Roboto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>
            <a:r>
              <a:rPr lang="it-IT"/>
              <a:t>Fare clic per modificare il titolo delle slide</a:t>
            </a:r>
            <a:endParaRPr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E890125-3CD9-F049-8340-81800AF71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237" y="647059"/>
            <a:ext cx="3004160" cy="56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1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sotto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A57FB5-7025-8A46-A2C8-9AC199CBF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11381"/>
            <a:ext cx="7886700" cy="3057565"/>
          </a:xfrm>
        </p:spPr>
        <p:txBody>
          <a:bodyPr anchor="ctr"/>
          <a:lstStyle>
            <a:lvl1pPr marL="0" indent="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Fira Sans" panose="020B0503050000020004" pitchFamily="34" charset="0"/>
              <a:buNone/>
              <a:defRPr sz="2000" b="0" i="0"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lvl2pPr>
            <a:lvl3pPr marL="814348" marR="0" indent="-171442" algn="l" defTabSz="685766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3pPr>
            <a:lvl4pPr>
              <a:defRPr sz="1200" b="0" i="0">
                <a:latin typeface="Fira Sans" panose="020B0503050000020004" pitchFamily="34" charset="0"/>
              </a:defRPr>
            </a:lvl4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65F876-3350-441E-BD36-BE705EBA20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551582"/>
            <a:ext cx="7886700" cy="7620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07C58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en-GB"/>
              <a:t>Fare </a:t>
            </a:r>
            <a:r>
              <a:rPr lang="en-GB" err="1"/>
              <a:t>clic</a:t>
            </a:r>
            <a:r>
              <a:rPr lang="en-GB"/>
              <a:t> per </a:t>
            </a:r>
            <a:r>
              <a:rPr lang="en-GB" err="1"/>
              <a:t>modificare</a:t>
            </a:r>
            <a:r>
              <a:rPr lang="en-GB"/>
              <a:t> </a:t>
            </a:r>
            <a:r>
              <a:rPr lang="en-GB" err="1"/>
              <a:t>il</a:t>
            </a:r>
            <a:r>
              <a:rPr lang="en-GB"/>
              <a:t> </a:t>
            </a:r>
            <a:r>
              <a:rPr lang="en-GB" err="1"/>
              <a:t>sottotitolo</a:t>
            </a:r>
            <a:endParaRPr lang="en-GB"/>
          </a:p>
        </p:txBody>
      </p:sp>
      <p:sp>
        <p:nvSpPr>
          <p:cNvPr id="11" name="Segnaposto titolo 1">
            <a:extLst>
              <a:ext uri="{FF2B5EF4-FFF2-40B4-BE49-F238E27FC236}">
                <a16:creationId xmlns:a16="http://schemas.microsoft.com/office/drawing/2014/main" id="{04C02021-F048-EF46-A427-824414E0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C11EF75-678E-9E47-B9E3-622B2E130D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8A205F8-F97E-E14B-B440-BBC8D0D15D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5748338"/>
            <a:ext cx="7886700" cy="428625"/>
          </a:xfrm>
        </p:spPr>
        <p:txBody>
          <a:bodyPr>
            <a:noAutofit/>
          </a:bodyPr>
          <a:lstStyle>
            <a:lvl1pPr marL="0" indent="0">
              <a:buNone/>
              <a:defRPr sz="1050" b="0" i="1">
                <a:latin typeface="Fira Sans Medium" panose="020B0503050000020004" pitchFamily="34" charset="0"/>
              </a:defRPr>
            </a:lvl1pPr>
          </a:lstStyle>
          <a:p>
            <a:r>
              <a:rPr lang="it-IT"/>
              <a:t>Fare clic per inserire note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3B426EC-6E00-FD41-8F96-56B3B749E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titolo 1">
            <a:extLst>
              <a:ext uri="{FF2B5EF4-FFF2-40B4-BE49-F238E27FC236}">
                <a16:creationId xmlns:a16="http://schemas.microsoft.com/office/drawing/2014/main" id="{4A68EDD3-8B24-5E4A-A507-BC4297B68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747EE5-0480-854D-A548-B2B40F2E6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1AB9F965-5489-F944-AC9B-8A7ABDD5E40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650" y="1531917"/>
            <a:ext cx="7886700" cy="4037029"/>
          </a:xfrm>
        </p:spPr>
        <p:txBody>
          <a:bodyPr anchor="ctr"/>
          <a:lstStyle>
            <a:lvl1pPr marL="0" indent="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Fira Sans" panose="020B0503050000020004" pitchFamily="34" charset="0"/>
              <a:buNone/>
              <a:defRPr sz="2000" b="0" i="0"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lvl2pPr>
            <a:lvl3pPr marL="814348" marR="0" indent="-171442" algn="l" defTabSz="685766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3pPr>
            <a:lvl4pPr>
              <a:defRPr sz="1200" b="0" i="0">
                <a:latin typeface="Fira Sans" panose="020B0503050000020004" pitchFamily="34" charset="0"/>
              </a:defRPr>
            </a:lvl4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57B3B9C0-6AEB-E343-9620-C69E8840A9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5747075"/>
            <a:ext cx="7886700" cy="429888"/>
          </a:xfrm>
        </p:spPr>
        <p:txBody>
          <a:bodyPr>
            <a:noAutofit/>
          </a:bodyPr>
          <a:lstStyle>
            <a:lvl1pPr marL="0" indent="0">
              <a:buNone/>
              <a:defRPr sz="1050" b="0" i="1">
                <a:latin typeface="Fira Sans Medium" panose="020B0503050000020004" pitchFamily="34" charset="0"/>
              </a:defRPr>
            </a:lvl1pPr>
          </a:lstStyle>
          <a:p>
            <a:r>
              <a:rPr lang="it-IT"/>
              <a:t>Fare clic per inserire note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13F50C5-2051-8445-A19E-05C0673C5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9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A5C4FFC-D4BE-BB4F-92DA-D862EC4E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immagine 2">
            <a:extLst>
              <a:ext uri="{FF2B5EF4-FFF2-40B4-BE49-F238E27FC236}">
                <a16:creationId xmlns:a16="http://schemas.microsoft.com/office/drawing/2014/main" id="{CCE05D45-DD0D-E743-8C7D-C0CA92158E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40293" cy="6060558"/>
          </a:xfrm>
        </p:spPr>
        <p:txBody>
          <a:bodyPr anchor="ctr"/>
          <a:lstStyle>
            <a:lvl1pPr marL="0" marR="0" indent="0" algn="ct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Fira Sans" panose="020B0503050000020004" pitchFamily="34" charset="0"/>
              <a:buNone/>
              <a:tabLst/>
              <a:defRPr b="0" i="1">
                <a:latin typeface="Fira Sans" panose="020B0503050000020004" pitchFamily="34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Fira Sans" panose="020B0503050000020004" pitchFamily="34" charset="0"/>
              <a:buNone/>
              <a:tabLst/>
              <a:defRPr/>
            </a:pPr>
            <a:r>
              <a:rPr lang="it-IT"/>
              <a:t>Fare clic sull'icona per inserire un'immagine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EB90B1D-B773-A048-BF96-DBBC4E10C8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4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A5C4FFC-D4BE-BB4F-92DA-D862EC4E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42EA668-7BA2-9346-A464-9CA1BBCC68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11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D4F9B8F1-23BB-DE44-B117-C81D61DBD6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" y="1543054"/>
            <a:ext cx="7886700" cy="4024630"/>
          </a:xfrm>
        </p:spPr>
        <p:txBody>
          <a:bodyPr anchor="ctr"/>
          <a:lstStyle>
            <a:lvl1pPr marL="0" marR="0" indent="0" algn="ct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Fira Sans" panose="020B0503050000020004" pitchFamily="34" charset="0"/>
              <a:buNone/>
              <a:tabLst/>
              <a:defRPr b="0" i="1">
                <a:latin typeface="Fira Sans" panose="020B0503050000020004" pitchFamily="34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Fira Sans" panose="020B0503050000020004" pitchFamily="34" charset="0"/>
              <a:buNone/>
              <a:tabLst/>
              <a:defRPr/>
            </a:pPr>
            <a:r>
              <a:rPr lang="it-IT"/>
              <a:t>Fare clic sull'icona per inserire un'immagine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A5C4FFC-D4BE-BB4F-92DA-D862EC4E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897D9E1E-9C0A-0D41-B11A-9921E9353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5747075"/>
            <a:ext cx="7886700" cy="429888"/>
          </a:xfrm>
        </p:spPr>
        <p:txBody>
          <a:bodyPr>
            <a:noAutofit/>
          </a:bodyPr>
          <a:lstStyle>
            <a:lvl1pPr marL="0" indent="0">
              <a:buNone/>
              <a:defRPr sz="1050" b="0" i="1">
                <a:latin typeface="Fira Sans Medium" panose="020B0503050000020004" pitchFamily="34" charset="0"/>
              </a:defRPr>
            </a:lvl1pPr>
          </a:lstStyle>
          <a:p>
            <a:r>
              <a:rPr lang="it-IT"/>
              <a:t>Fare clic per inserire note</a:t>
            </a:r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E6275BA2-C88F-D442-BB44-16AD120A3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9FF1412-46BE-7143-B803-2F7121D448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D72F9B8-ABA2-4C42-A181-607DBB3A26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BB8059-381A-704A-886C-F6DD9F44F1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551582"/>
            <a:ext cx="7886700" cy="7620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07C58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en-GB"/>
              <a:t>Fare </a:t>
            </a:r>
            <a:r>
              <a:rPr lang="en-GB" err="1"/>
              <a:t>clic</a:t>
            </a:r>
            <a:r>
              <a:rPr lang="en-GB"/>
              <a:t> per </a:t>
            </a:r>
            <a:r>
              <a:rPr lang="en-GB" err="1"/>
              <a:t>modificare</a:t>
            </a:r>
            <a:r>
              <a:rPr lang="en-GB"/>
              <a:t> </a:t>
            </a:r>
            <a:r>
              <a:rPr lang="en-GB" err="1"/>
              <a:t>il</a:t>
            </a:r>
            <a:r>
              <a:rPr lang="en-GB"/>
              <a:t> </a:t>
            </a:r>
            <a:r>
              <a:rPr lang="en-GB" err="1"/>
              <a:t>sottotitolo</a:t>
            </a:r>
            <a:endParaRPr lang="en-GB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C08E708D-0E00-AB46-8AF7-AAC94AA38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5747075"/>
            <a:ext cx="7886700" cy="429888"/>
          </a:xfrm>
        </p:spPr>
        <p:txBody>
          <a:bodyPr>
            <a:noAutofit/>
          </a:bodyPr>
          <a:lstStyle>
            <a:lvl1pPr marL="0" indent="0">
              <a:buNone/>
              <a:defRPr sz="1050" b="0" i="1">
                <a:latin typeface="Fira Sans Medium" panose="020B0503050000020004" pitchFamily="34" charset="0"/>
              </a:defRPr>
            </a:lvl1pPr>
          </a:lstStyle>
          <a:p>
            <a:r>
              <a:rPr lang="it-IT"/>
              <a:t>Fare clic per inserire note</a:t>
            </a:r>
          </a:p>
        </p:txBody>
      </p:sp>
      <p:sp>
        <p:nvSpPr>
          <p:cNvPr id="11" name="Segnaposto titolo 1">
            <a:extLst>
              <a:ext uri="{FF2B5EF4-FFF2-40B4-BE49-F238E27FC236}">
                <a16:creationId xmlns:a16="http://schemas.microsoft.com/office/drawing/2014/main" id="{80C56B0F-86D4-8640-B1D0-FEBA0E0A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4DBD85-73B2-3844-94BB-BBD53D48B4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5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4C4561-347F-D04A-AB74-2E115C024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72002" y="1825625"/>
            <a:ext cx="394454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0" i="1">
                <a:latin typeface="Fira Sans" panose="020B0503050000020004" pitchFamily="34" charset="0"/>
              </a:defRPr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9134FB0-2826-354B-B1BA-F95D422DE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3" y="1825625"/>
            <a:ext cx="3769967" cy="4351338"/>
          </a:xfrm>
        </p:spPr>
        <p:txBody>
          <a:bodyPr anchor="ctr"/>
          <a:lstStyle>
            <a:lvl1pPr marL="0" indent="0">
              <a:buFont typeface="Fira Sans" panose="020B0503050000020004" pitchFamily="34" charset="0"/>
              <a:buNone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814348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200090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F2FF0E7-4855-2F46-A78C-823982A184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4B4775A8-EB69-F341-A56E-1D29905F9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D2F81AD-8D0A-0145-B3A5-80CBE7575D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1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4C4561-347F-D04A-AB74-2E115C024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8650" y="1825625"/>
            <a:ext cx="3943349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0" i="1">
                <a:latin typeface="Fira Sans" panose="020B0503050000020004" pitchFamily="34" charset="0"/>
              </a:defRPr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9134FB0-2826-354B-B1BA-F95D422DE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5383" y="1817083"/>
            <a:ext cx="3769967" cy="4351338"/>
          </a:xfrm>
        </p:spPr>
        <p:txBody>
          <a:bodyPr anchor="ctr"/>
          <a:lstStyle>
            <a:lvl1pPr marL="0" indent="0">
              <a:buFont typeface="Fira Sans" panose="020B0503050000020004" pitchFamily="34" charset="0"/>
              <a:buNone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814348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200090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F2FF0E7-4855-2F46-A78C-823982A184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4B4775A8-EB69-F341-A56E-1D29905F9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2C2DCC8-FB39-0147-85D7-251089C31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84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, testo e immag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9134FB0-2826-354B-B1BA-F95D422DE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2511380"/>
            <a:ext cx="3793718" cy="3665587"/>
          </a:xfrm>
        </p:spPr>
        <p:txBody>
          <a:bodyPr anchor="ctr">
            <a:normAutofit/>
          </a:bodyPr>
          <a:lstStyle>
            <a:lvl1pPr marL="0" indent="0">
              <a:buFont typeface="Fira Sans" panose="020B0503050000020004" pitchFamily="34" charset="0"/>
              <a:buNone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814348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200090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85F9E723-29C5-D441-88F8-71AFEFA5207B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720441" y="2511380"/>
            <a:ext cx="3793718" cy="3665587"/>
          </a:xfrm>
        </p:spPr>
        <p:txBody>
          <a:bodyPr anchor="ctr">
            <a:normAutofit/>
          </a:bodyPr>
          <a:lstStyle>
            <a:lvl1pPr marL="0" indent="0">
              <a:buFont typeface="Fira Sans" panose="020B0503050000020004" pitchFamily="34" charset="0"/>
              <a:buNone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814348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200090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F944A78-B074-B54E-BDDA-D50D5E0756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1" y="1551582"/>
            <a:ext cx="3793718" cy="76200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7C58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en-GB"/>
              <a:t>Fare </a:t>
            </a:r>
            <a:r>
              <a:rPr lang="en-GB" err="1"/>
              <a:t>clic</a:t>
            </a:r>
            <a:r>
              <a:rPr lang="en-GB"/>
              <a:t> per </a:t>
            </a:r>
            <a:r>
              <a:rPr lang="en-GB" err="1"/>
              <a:t>modificare</a:t>
            </a:r>
            <a:r>
              <a:rPr lang="en-GB"/>
              <a:t> </a:t>
            </a:r>
            <a:r>
              <a:rPr lang="en-GB" err="1"/>
              <a:t>il</a:t>
            </a:r>
            <a:r>
              <a:rPr lang="en-GB"/>
              <a:t> </a:t>
            </a:r>
            <a:r>
              <a:rPr lang="en-GB" err="1"/>
              <a:t>sottotitolo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CC595F4-9D2D-E044-AAEB-75DB74AA64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0441" y="1551581"/>
            <a:ext cx="3793718" cy="76200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7C58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en-GB"/>
              <a:t>Fare </a:t>
            </a:r>
            <a:r>
              <a:rPr lang="en-GB" err="1"/>
              <a:t>clic</a:t>
            </a:r>
            <a:r>
              <a:rPr lang="en-GB"/>
              <a:t> per </a:t>
            </a:r>
            <a:r>
              <a:rPr lang="en-GB" err="1"/>
              <a:t>modificare</a:t>
            </a:r>
            <a:r>
              <a:rPr lang="en-GB"/>
              <a:t> </a:t>
            </a:r>
            <a:r>
              <a:rPr lang="en-GB" err="1"/>
              <a:t>il</a:t>
            </a:r>
            <a:r>
              <a:rPr lang="en-GB"/>
              <a:t> </a:t>
            </a:r>
            <a:r>
              <a:rPr lang="en-GB" err="1"/>
              <a:t>sottotitolo</a:t>
            </a:r>
            <a:endParaRPr lang="en-GB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D2AEED0-49D4-3E47-AC3F-270F49F4CC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1D055194-F38E-BC41-A98D-1177A0272C8D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05697"/>
            <a:ext cx="0" cy="3669475"/>
          </a:xfrm>
          <a:prstGeom prst="line">
            <a:avLst/>
          </a:prstGeom>
          <a:ln w="12700">
            <a:solidFill>
              <a:srgbClr val="007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titolo 1">
            <a:extLst>
              <a:ext uri="{FF2B5EF4-FFF2-40B4-BE49-F238E27FC236}">
                <a16:creationId xmlns:a16="http://schemas.microsoft.com/office/drawing/2014/main" id="{35850251-896E-B041-8180-ED90B1047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3105DB7-0F00-304E-ABD4-897CDC230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95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9134FB0-2826-354B-B1BA-F95D422DE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3" y="2511380"/>
            <a:ext cx="2327115" cy="3665587"/>
          </a:xfrm>
        </p:spPr>
        <p:txBody>
          <a:bodyPr anchor="ctr">
            <a:normAutofit/>
          </a:bodyPr>
          <a:lstStyle>
            <a:lvl1pPr marL="0" indent="0">
              <a:buFont typeface="Fira Sans" panose="020B0503050000020004" pitchFamily="34" charset="0"/>
              <a:buNone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814348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200090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85F9E723-29C5-D441-88F8-71AFEFA5207B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3408443" y="2511380"/>
            <a:ext cx="2327115" cy="3665587"/>
          </a:xfrm>
        </p:spPr>
        <p:txBody>
          <a:bodyPr anchor="ctr">
            <a:normAutofit/>
          </a:bodyPr>
          <a:lstStyle>
            <a:lvl1pPr marL="0" indent="0">
              <a:buFont typeface="Fira Sans" panose="020B0503050000020004" pitchFamily="34" charset="0"/>
              <a:buNone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814348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200090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798A6822-7DA7-2E4D-B441-3AC1A45F600B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6187046" y="2511380"/>
            <a:ext cx="2327115" cy="3665587"/>
          </a:xfrm>
        </p:spPr>
        <p:txBody>
          <a:bodyPr anchor="ctr">
            <a:normAutofit/>
          </a:bodyPr>
          <a:lstStyle>
            <a:lvl1pPr marL="0" indent="0">
              <a:buFont typeface="Fira Sans" panose="020B0503050000020004" pitchFamily="34" charset="0"/>
              <a:buNone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Fira Sans Medium" panose="020B0503050000020004" pitchFamily="34" charset="0"/>
              </a:defRPr>
            </a:lvl1pPr>
            <a:lvl2pPr marL="514325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814348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200090" marR="0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
Secondo livello
Terzo livello
Quarto livello
Quinto livello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F944A78-B074-B54E-BDDA-D50D5E0756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2" y="1551582"/>
            <a:ext cx="2327115" cy="76200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7C58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en-GB"/>
              <a:t>Fare </a:t>
            </a:r>
            <a:r>
              <a:rPr lang="en-GB" err="1"/>
              <a:t>clic</a:t>
            </a:r>
            <a:r>
              <a:rPr lang="en-GB"/>
              <a:t> per </a:t>
            </a:r>
            <a:r>
              <a:rPr lang="en-GB" err="1"/>
              <a:t>modificare</a:t>
            </a:r>
            <a:r>
              <a:rPr lang="en-GB"/>
              <a:t> </a:t>
            </a:r>
            <a:r>
              <a:rPr lang="en-GB" err="1"/>
              <a:t>il</a:t>
            </a:r>
            <a:r>
              <a:rPr lang="en-GB"/>
              <a:t> </a:t>
            </a:r>
            <a:r>
              <a:rPr lang="en-GB" err="1"/>
              <a:t>sottotitolo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CC595F4-9D2D-E044-AAEB-75DB74AA64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8443" y="1551581"/>
            <a:ext cx="2327115" cy="76200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7C58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en-GB"/>
              <a:t>Fare </a:t>
            </a:r>
            <a:r>
              <a:rPr lang="en-GB" err="1"/>
              <a:t>clic</a:t>
            </a:r>
            <a:r>
              <a:rPr lang="en-GB"/>
              <a:t> per </a:t>
            </a:r>
            <a:r>
              <a:rPr lang="en-GB" err="1"/>
              <a:t>modificare</a:t>
            </a:r>
            <a:r>
              <a:rPr lang="en-GB"/>
              <a:t> </a:t>
            </a:r>
            <a:r>
              <a:rPr lang="en-GB" err="1"/>
              <a:t>il</a:t>
            </a:r>
            <a:r>
              <a:rPr lang="en-GB"/>
              <a:t> </a:t>
            </a:r>
            <a:r>
              <a:rPr lang="en-GB" err="1"/>
              <a:t>sottotitolo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9EA2753-54CC-C644-8DA9-3ED0F1CF24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046" y="1551581"/>
            <a:ext cx="2327115" cy="76200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7C58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pPr lvl="0"/>
            <a:r>
              <a:rPr lang="en-GB"/>
              <a:t>Fare </a:t>
            </a:r>
            <a:r>
              <a:rPr lang="en-GB" err="1"/>
              <a:t>clic</a:t>
            </a:r>
            <a:r>
              <a:rPr lang="en-GB"/>
              <a:t> per </a:t>
            </a:r>
            <a:r>
              <a:rPr lang="en-GB" err="1"/>
              <a:t>modificare</a:t>
            </a:r>
            <a:r>
              <a:rPr lang="en-GB"/>
              <a:t> </a:t>
            </a:r>
            <a:r>
              <a:rPr lang="en-GB" err="1"/>
              <a:t>il</a:t>
            </a:r>
            <a:r>
              <a:rPr lang="en-GB"/>
              <a:t> </a:t>
            </a:r>
            <a:r>
              <a:rPr lang="en-GB" err="1"/>
              <a:t>sottotitolo</a:t>
            </a:r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E5D853E-0A41-7F40-8291-86C503BFAC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07389034-36FE-D04B-97E1-02A924367620}"/>
              </a:ext>
            </a:extLst>
          </p:cNvPr>
          <p:cNvCxnSpPr>
            <a:cxnSpLocks/>
          </p:cNvCxnSpPr>
          <p:nvPr userDrawn="1"/>
        </p:nvCxnSpPr>
        <p:spPr>
          <a:xfrm>
            <a:off x="3188525" y="2505697"/>
            <a:ext cx="0" cy="3669475"/>
          </a:xfrm>
          <a:prstGeom prst="line">
            <a:avLst/>
          </a:prstGeom>
          <a:ln w="12700">
            <a:solidFill>
              <a:srgbClr val="007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8B042105-974D-A945-82DA-C0EE98AFE88E}"/>
              </a:ext>
            </a:extLst>
          </p:cNvPr>
          <p:cNvCxnSpPr>
            <a:cxnSpLocks/>
          </p:cNvCxnSpPr>
          <p:nvPr userDrawn="1"/>
        </p:nvCxnSpPr>
        <p:spPr>
          <a:xfrm>
            <a:off x="5956960" y="2505697"/>
            <a:ext cx="0" cy="3669475"/>
          </a:xfrm>
          <a:prstGeom prst="line">
            <a:avLst/>
          </a:prstGeom>
          <a:ln w="12700">
            <a:solidFill>
              <a:srgbClr val="007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titolo 1">
            <a:extLst>
              <a:ext uri="{FF2B5EF4-FFF2-40B4-BE49-F238E27FC236}">
                <a16:creationId xmlns:a16="http://schemas.microsoft.com/office/drawing/2014/main" id="{8B77CED5-B561-3846-9AB3-80FAFE67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CC0B5E8D-38CA-5D4A-9D22-364FA022A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28650" y="6476142"/>
            <a:ext cx="803538" cy="15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17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fine">
    <p:bg>
      <p:bgPr>
        <a:solidFill>
          <a:srgbClr val="007C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C4241C9D-9501-BD44-A021-511E865A78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5317" y="2589605"/>
            <a:ext cx="2193366" cy="170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0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B895A96-2866-484D-98AF-108A2B67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ADDCE6-9BC9-1045-9A9B-B7DA4ECE9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31917"/>
            <a:ext cx="7886700" cy="4645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gli stili del testo dello schema</a:t>
            </a:r>
          </a:p>
          <a:p>
            <a:pPr marL="514325" marR="0" lvl="1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Secondo livello</a:t>
            </a:r>
          </a:p>
          <a:p>
            <a:pPr marL="814348" marR="0" lvl="2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Terzo livello</a:t>
            </a:r>
          </a:p>
          <a:p>
            <a:pPr marL="514325" marR="0" lvl="1" indent="-171442" algn="l" defTabSz="685766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3E5275-AA79-C14E-8281-AC408BAAE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 b="0" i="0">
                <a:solidFill>
                  <a:schemeClr val="bg1">
                    <a:lumMod val="75000"/>
                  </a:schemeClr>
                </a:solidFill>
                <a:latin typeface="Fira Sans Medium" panose="020B0503050000020004" pitchFamily="34" charset="0"/>
              </a:defRPr>
            </a:lvl1pPr>
          </a:lstStyle>
          <a:p>
            <a:fld id="{FEC4A954-C260-E84D-8B85-4D54550A05DF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114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>
              <a:lumMod val="85000"/>
              <a:lumOff val="15000"/>
            </a:schemeClr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Fira Sans" panose="020B0503050000020004" pitchFamily="34" charset="0"/>
        <a:buChar char="―"/>
        <a:defRPr sz="1800" b="0" i="0" kern="1200">
          <a:solidFill>
            <a:schemeClr val="tx1">
              <a:lumMod val="65000"/>
              <a:lumOff val="35000"/>
            </a:schemeClr>
          </a:solidFill>
          <a:latin typeface="Fira Sans Medium" panose="020B0503050000020004" pitchFamily="34" charset="0"/>
          <a:ea typeface="+mn-ea"/>
          <a:cs typeface="+mn-cs"/>
        </a:defRPr>
      </a:lvl1pPr>
      <a:lvl2pPr marL="557185" marR="0" indent="-214303" algn="l" defTabSz="685766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Fira Sans" panose="020B0503050000020004" pitchFamily="34" charset="0"/>
        <a:buChar char="–"/>
        <a:tabLst/>
        <a:defRPr sz="1650" b="0" i="0" kern="1200">
          <a:solidFill>
            <a:schemeClr val="tx1">
              <a:lumMod val="65000"/>
              <a:lumOff val="35000"/>
            </a:schemeClr>
          </a:solidFill>
          <a:latin typeface="Fira Sans" panose="020B0503050000020004" pitchFamily="34" charset="0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Fira Sans" panose="020B0503050000020004" pitchFamily="34" charset="0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>
            <a:extLst>
              <a:ext uri="{FF2B5EF4-FFF2-40B4-BE49-F238E27FC236}">
                <a16:creationId xmlns:a16="http://schemas.microsoft.com/office/drawing/2014/main" id="{E01BB7BE-E4F3-F34C-98AC-424C3998B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/>
              <a:t>Filippo </a:t>
            </a:r>
            <a:r>
              <a:rPr lang="en-US" noProof="0" err="1"/>
              <a:t>Gavuglio</a:t>
            </a:r>
            <a:r>
              <a:rPr lang="en-US" noProof="0"/>
              <a:t>, S4875323</a:t>
            </a:r>
          </a:p>
          <a:p>
            <a:r>
              <a:rPr lang="en-US" noProof="0"/>
              <a:t>Tommaso Viotti, S5048661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DFAC99DC-03D4-7449-B6C7-2B86A9FA7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GNSS positioning with </a:t>
            </a:r>
            <a:r>
              <a:rPr lang="en-US" noProof="0" err="1"/>
              <a:t>RTKlib</a:t>
            </a:r>
            <a:endParaRPr lang="en-US" noProof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D10E4C7-8206-8949-88EE-952FB5F1AC5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0" err="1"/>
              <a:t>RTKlib</a:t>
            </a:r>
            <a:r>
              <a:rPr lang="en-US" noProof="0"/>
              <a:t> on Raspberry pi 4</a:t>
            </a:r>
          </a:p>
        </p:txBody>
      </p:sp>
    </p:spTree>
    <p:extLst>
      <p:ext uri="{BB962C8B-B14F-4D97-AF65-F5344CB8AC3E}">
        <p14:creationId xmlns:p14="http://schemas.microsoft.com/office/powerpoint/2010/main" val="224709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7B6F00A-ED98-374D-A77E-D963C5F2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</p:spPr>
        <p:txBody>
          <a:bodyPr anchor="ctr">
            <a:normAutofit/>
          </a:bodyPr>
          <a:lstStyle/>
          <a:p>
            <a:r>
              <a:rPr lang="en-GB">
                <a:latin typeface="Roboto Slab"/>
                <a:ea typeface="Roboto Slab"/>
                <a:cs typeface="Roboto Slab"/>
              </a:rPr>
              <a:t>Project goals</a:t>
            </a:r>
            <a:endParaRPr lang="en-GB">
              <a:cs typeface="Roboto Slab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F3D1F5-AD70-BE43-9175-A167253EB7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5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C4A954-C260-E84D-8B85-4D54550A05DF}" type="slidenum">
              <a:rPr lang="it-IT" smtClean="0"/>
              <a:pPr>
                <a:spcAft>
                  <a:spcPts val="600"/>
                </a:spcAft>
              </a:pPr>
              <a:t>2</a:t>
            </a:fld>
            <a:endParaRPr lang="it-IT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C7DFC099-6B6F-2A4F-B9BB-08792A7A1D7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650" y="1531917"/>
            <a:ext cx="6156960" cy="4037029"/>
          </a:xfrm>
        </p:spPr>
        <p:txBody>
          <a:bodyPr anchor="ctr">
            <a:normAutofit/>
          </a:bodyPr>
          <a:lstStyle/>
          <a:p>
            <a:pPr marL="513715" lvl="1" indent="-170815"/>
            <a:r>
              <a:rPr lang="en-US" sz="2000">
                <a:latin typeface="Fira Sans"/>
              </a:rPr>
              <a:t>Run </a:t>
            </a:r>
            <a:r>
              <a:rPr lang="en-US" sz="2000" err="1">
                <a:latin typeface="Fira Sans"/>
              </a:rPr>
              <a:t>RTKlib</a:t>
            </a:r>
            <a:r>
              <a:rPr lang="en-US" sz="2000">
                <a:latin typeface="Fira Sans"/>
              </a:rPr>
              <a:t> on a Raspberry Pi 4</a:t>
            </a:r>
          </a:p>
          <a:p>
            <a:pPr marL="513715" lvl="1" indent="-170815"/>
            <a:r>
              <a:rPr lang="en-US" sz="2000">
                <a:latin typeface="Fira Sans"/>
              </a:rPr>
              <a:t>Achieve a precision of 20cm for the final solution.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218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9EAE9-98F0-0A46-9326-81E8D38933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Hardware</a:t>
            </a:r>
          </a:p>
        </p:txBody>
      </p:sp>
      <p:pic>
        <p:nvPicPr>
          <p:cNvPr id="4" name="Immagine 3" descr="Immagine che contiene cavo, elettronica, Ingegneria elettronica, Impianto elettrico&#10;&#10;Il contenuto generato dall'IA potrebbe non essere corretto.">
            <a:extLst>
              <a:ext uri="{FF2B5EF4-FFF2-40B4-BE49-F238E27FC236}">
                <a16:creationId xmlns:a16="http://schemas.microsoft.com/office/drawing/2014/main" id="{EA9275D5-379D-3BC1-9882-217E99110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2" t="10481" r="11871" b="12514"/>
          <a:stretch>
            <a:fillRect/>
          </a:stretch>
        </p:blipFill>
        <p:spPr>
          <a:xfrm>
            <a:off x="4173486" y="2136185"/>
            <a:ext cx="4296698" cy="353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7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6394BAD-670A-8446-9C98-5A48718C8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/>
              <a:t>Raspberry Pi 4B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55F8A43-08A1-EA4C-9020-959F212AD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err="1"/>
              <a:t>Ublox</a:t>
            </a:r>
            <a:r>
              <a:rPr lang="en-US" noProof="0"/>
              <a:t> NEO-M8T-0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A7B3591B-0884-6846-89B6-AEEC9D0A93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/>
              <a:t>Antenna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A67812A-DFAC-5947-86DE-ACDA46D3E2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C4A954-C260-E84D-8B85-4D54550A05DF}" type="slidenum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Fira Sans Medium" panose="020B05030500000200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Fira Sans Medium" panose="020B0503050000020004" pitchFamily="34" charset="0"/>
              <a:ea typeface="+mn-ea"/>
              <a:cs typeface="+mn-cs"/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2E87ADC-6C8B-3A40-B309-FF104118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Rover</a:t>
            </a:r>
          </a:p>
        </p:txBody>
      </p:sp>
      <p:pic>
        <p:nvPicPr>
          <p:cNvPr id="17" name="Immagine 16" descr="Immagine che contiene cavo, Impianto elettrico, Auricolari, interno&#10;&#10;Il contenuto generato dall'IA potrebbe non essere corretto.">
            <a:extLst>
              <a:ext uri="{FF2B5EF4-FFF2-40B4-BE49-F238E27FC236}">
                <a16:creationId xmlns:a16="http://schemas.microsoft.com/office/drawing/2014/main" id="{2CBAA890-D077-3C2B-B207-B643ABC62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09" t="19699" r="4311" b="30251"/>
          <a:stretch>
            <a:fillRect/>
          </a:stretch>
        </p:blipFill>
        <p:spPr>
          <a:xfrm>
            <a:off x="6131710" y="3316227"/>
            <a:ext cx="2437785" cy="1990192"/>
          </a:xfrm>
          <a:prstGeom prst="rect">
            <a:avLst/>
          </a:prstGeom>
        </p:spPr>
      </p:pic>
      <p:pic>
        <p:nvPicPr>
          <p:cNvPr id="19" name="Immagine 18" descr="Immagine che contiene elettronica, Componente di circuito, Componente elettrico, Ingegneria elettronica&#10;&#10;Il contenuto generato dall'IA potrebbe non essere corretto.">
            <a:extLst>
              <a:ext uri="{FF2B5EF4-FFF2-40B4-BE49-F238E27FC236}">
                <a16:creationId xmlns:a16="http://schemas.microsoft.com/office/drawing/2014/main" id="{C5E60763-DA60-EEE8-71A9-718037D28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0" t="18437" r="12258" b="8760"/>
          <a:stretch>
            <a:fillRect/>
          </a:stretch>
        </p:blipFill>
        <p:spPr>
          <a:xfrm>
            <a:off x="3353107" y="3316227"/>
            <a:ext cx="2437785" cy="1990192"/>
          </a:xfrm>
          <a:prstGeom prst="rect">
            <a:avLst/>
          </a:prstGeom>
        </p:spPr>
      </p:pic>
      <p:pic>
        <p:nvPicPr>
          <p:cNvPr id="21" name="Immagine 20" descr="Immagine che contiene elettronica, Componente elettrico, Componente di circuito, Componente di circuito passivo&#10;&#10;Il contenuto generato dall'IA potrebbe non essere corretto.">
            <a:extLst>
              <a:ext uri="{FF2B5EF4-FFF2-40B4-BE49-F238E27FC236}">
                <a16:creationId xmlns:a16="http://schemas.microsoft.com/office/drawing/2014/main" id="{926C2C3F-D02E-E781-770F-95C680B42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1" t="3308" r="3870" b="2156"/>
          <a:stretch>
            <a:fillRect/>
          </a:stretch>
        </p:blipFill>
        <p:spPr>
          <a:xfrm>
            <a:off x="618862" y="3316226"/>
            <a:ext cx="2393427" cy="199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7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312EAA9-383D-3C47-B5D7-939E05AB9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>
                <a:latin typeface="Fira Sans Medium"/>
              </a:rPr>
              <a:t>Connection to </a:t>
            </a:r>
            <a:r>
              <a:rPr lang="en-US" noProof="0" err="1">
                <a:latin typeface="Fira Sans Medium"/>
              </a:rPr>
              <a:t>Regione</a:t>
            </a:r>
            <a:r>
              <a:rPr lang="en-US" noProof="0">
                <a:latin typeface="Fira Sans Medium"/>
              </a:rPr>
              <a:t> Liguria NTRIP server</a:t>
            </a:r>
            <a:endParaRPr lang="en-US" noProof="0"/>
          </a:p>
          <a:p>
            <a:pPr marL="513715" lvl="1" indent="-170815"/>
            <a:r>
              <a:rPr lang="en-US" noProof="0" err="1"/>
              <a:t>MountPoint</a:t>
            </a:r>
            <a:r>
              <a:rPr lang="en-US" noProof="0"/>
              <a:t>: NEAR3</a:t>
            </a:r>
          </a:p>
          <a:p>
            <a:pPr marL="513715" lvl="1" indent="-170815"/>
            <a:r>
              <a:rPr lang="en-US" noProof="0"/>
              <a:t>Format: RTCM3</a:t>
            </a:r>
          </a:p>
          <a:p>
            <a:pPr marL="513715" lvl="1" indent="-170815"/>
            <a:endParaRPr lang="en-US" noProof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E3E356-5B07-234B-AD5E-0C625D5CA7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/>
              <a:t>GEOPORTALE – </a:t>
            </a:r>
            <a:r>
              <a:rPr lang="en-US" noProof="0" err="1"/>
              <a:t>Regione</a:t>
            </a:r>
            <a:r>
              <a:rPr lang="en-US" noProof="0"/>
              <a:t> Liguria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6016892-186A-9A40-8B09-6FF54F79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Base station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B002287-6745-0542-857C-08571A321B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C4A954-C260-E84D-8B85-4D54550A05DF}" type="slidenum">
              <a:rPr lang="en-US" noProof="0" smtClean="0"/>
              <a:pPr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3280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48F567D5-6E0D-3649-B7E3-39C14D20D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26" y="1439610"/>
            <a:ext cx="7825947" cy="906143"/>
          </a:xfrm>
        </p:spPr>
        <p:txBody>
          <a:bodyPr/>
          <a:lstStyle/>
          <a:p>
            <a:r>
              <a:rPr lang="en-US" noProof="0"/>
              <a:t>Software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0D41C1A-003B-5CD4-2A19-E64BB938EA5E}"/>
              </a:ext>
            </a:extLst>
          </p:cNvPr>
          <p:cNvSpPr/>
          <p:nvPr/>
        </p:nvSpPr>
        <p:spPr>
          <a:xfrm>
            <a:off x="2710716" y="3565693"/>
            <a:ext cx="1740310" cy="1326596"/>
          </a:xfrm>
          <a:prstGeom prst="rect">
            <a:avLst/>
          </a:prstGeom>
          <a:noFill/>
          <a:ln w="28575">
            <a:solidFill>
              <a:srgbClr val="252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err="1">
                <a:solidFill>
                  <a:srgbClr val="262626">
                    <a:lumMod val="65000"/>
                    <a:lumOff val="35000"/>
                  </a:srgbClr>
                </a:solidFill>
                <a:latin typeface="Fira Sans Medium" panose="020B0503050000020004" pitchFamily="34" charset="0"/>
              </a:rPr>
              <a:t>RTKlib</a:t>
            </a:r>
            <a:endParaRPr lang="en-US" noProof="0">
              <a:solidFill>
                <a:srgbClr val="262626">
                  <a:lumMod val="65000"/>
                  <a:lumOff val="35000"/>
                </a:srgbClr>
              </a:solidFill>
              <a:latin typeface="Fira Sans Medium" panose="020B0503050000020004" pitchFamily="34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49986C9-2A1F-BC78-7E6F-2CFD9311B3C9}"/>
              </a:ext>
            </a:extLst>
          </p:cNvPr>
          <p:cNvSpPr/>
          <p:nvPr/>
        </p:nvSpPr>
        <p:spPr>
          <a:xfrm>
            <a:off x="2710716" y="3064247"/>
            <a:ext cx="1740310" cy="501446"/>
          </a:xfrm>
          <a:prstGeom prst="rect">
            <a:avLst/>
          </a:prstGeom>
          <a:noFill/>
          <a:ln w="28575">
            <a:solidFill>
              <a:srgbClr val="252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389852A-6C24-4757-687C-20539B50C3B9}"/>
              </a:ext>
            </a:extLst>
          </p:cNvPr>
          <p:cNvSpPr txBox="1"/>
          <p:nvPr/>
        </p:nvSpPr>
        <p:spPr>
          <a:xfrm>
            <a:off x="2710716" y="3064247"/>
            <a:ext cx="1740310" cy="50144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l">
              <a:buNone/>
            </a:pPr>
            <a:endParaRPr lang="en-US" sz="1050" b="0" i="1" noProof="0">
              <a:latin typeface="Fira Sans" panose="020B05030500000200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A46C97E-5188-5EE6-DBF2-FF55C973A05B}"/>
              </a:ext>
            </a:extLst>
          </p:cNvPr>
          <p:cNvSpPr txBox="1"/>
          <p:nvPr/>
        </p:nvSpPr>
        <p:spPr>
          <a:xfrm>
            <a:off x="2710716" y="3064247"/>
            <a:ext cx="1740310" cy="50144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/>
          </a:bodyPr>
          <a:lstStyle/>
          <a:p>
            <a:pPr marL="0" indent="0" algn="ctr">
              <a:buNone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62626">
                    <a:lumMod val="65000"/>
                    <a:lumOff val="35000"/>
                  </a:srgbClr>
                </a:solidFill>
                <a:effectLst/>
                <a:uLnTx/>
                <a:uFillTx/>
                <a:latin typeface="Fira Sans Medium" panose="020B0503050000020004" pitchFamily="34" charset="0"/>
                <a:ea typeface="+mn-ea"/>
                <a:cs typeface="+mn-cs"/>
              </a:rPr>
              <a:t>Raspberry Pi4</a:t>
            </a:r>
            <a:endParaRPr lang="en-US" sz="2000" b="0" i="1" noProof="0">
              <a:latin typeface="Fira Sans" panose="020B0503050000020004" pitchFamily="34" charset="0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76DAE8B-8174-4A82-AE30-0040B819898E}"/>
              </a:ext>
            </a:extLst>
          </p:cNvPr>
          <p:cNvSpPr/>
          <p:nvPr/>
        </p:nvSpPr>
        <p:spPr>
          <a:xfrm>
            <a:off x="579839" y="3002416"/>
            <a:ext cx="1740310" cy="501446"/>
          </a:xfrm>
          <a:prstGeom prst="rect">
            <a:avLst/>
          </a:prstGeom>
          <a:noFill/>
          <a:ln w="28575">
            <a:solidFill>
              <a:srgbClr val="252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noProof="0" err="1">
                <a:solidFill>
                  <a:srgbClr val="727272"/>
                </a:solidFill>
                <a:latin typeface="Fira Sans Medium" panose="020B0603050000020004" pitchFamily="34" charset="0"/>
              </a:rPr>
              <a:t>Ublox</a:t>
            </a:r>
            <a:r>
              <a:rPr lang="en-US" sz="1300" noProof="0">
                <a:solidFill>
                  <a:srgbClr val="727272"/>
                </a:solidFill>
                <a:latin typeface="Fira Sans Medium" panose="020B0603050000020004" pitchFamily="34" charset="0"/>
              </a:rPr>
              <a:t> NEO-M8T-0</a:t>
            </a:r>
          </a:p>
        </p:txBody>
      </p: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890888E2-A75D-61B3-973C-EC46BC82CAF3}"/>
              </a:ext>
            </a:extLst>
          </p:cNvPr>
          <p:cNvCxnSpPr>
            <a:stCxn id="12" idx="3"/>
            <a:endCxn id="8" idx="1"/>
          </p:cNvCxnSpPr>
          <p:nvPr/>
        </p:nvCxnSpPr>
        <p:spPr>
          <a:xfrm>
            <a:off x="2320149" y="3253139"/>
            <a:ext cx="390567" cy="975852"/>
          </a:xfrm>
          <a:prstGeom prst="bentConnector3">
            <a:avLst/>
          </a:prstGeom>
          <a:ln w="19050">
            <a:solidFill>
              <a:srgbClr val="2528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Elemento grafico 38" descr="Server">
            <a:extLst>
              <a:ext uri="{FF2B5EF4-FFF2-40B4-BE49-F238E27FC236}">
                <a16:creationId xmlns:a16="http://schemas.microsoft.com/office/drawing/2014/main" id="{646D6361-97D9-D892-C088-5B7C3FDD4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133" y="5070872"/>
            <a:ext cx="914400" cy="914400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EA50C0A-3732-6E6E-8608-816FFBF702CC}"/>
              </a:ext>
            </a:extLst>
          </p:cNvPr>
          <p:cNvSpPr txBox="1"/>
          <p:nvPr/>
        </p:nvSpPr>
        <p:spPr>
          <a:xfrm>
            <a:off x="1024882" y="4760150"/>
            <a:ext cx="914400" cy="43261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0">
                <a:solidFill>
                  <a:srgbClr val="727272"/>
                </a:solidFill>
                <a:latin typeface="Fira Sans Medium" panose="020B0603050000020004" pitchFamily="34" charset="0"/>
              </a:rPr>
              <a:t>NTRIP server </a:t>
            </a:r>
            <a:endParaRPr lang="en-US" sz="1050" b="0" noProof="0">
              <a:solidFill>
                <a:srgbClr val="727272"/>
              </a:solidFill>
              <a:latin typeface="Fira Sans Medium" panose="020B0603050000020004" pitchFamily="34" charset="0"/>
            </a:endParaRPr>
          </a:p>
        </p:txBody>
      </p: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F1FE2873-EF13-95D4-237C-D39A3969B2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1873" y="4892288"/>
            <a:ext cx="1424995" cy="600963"/>
          </a:xfrm>
          <a:prstGeom prst="bentConnector3">
            <a:avLst>
              <a:gd name="adj1" fmla="val -1749"/>
            </a:avLst>
          </a:prstGeom>
          <a:ln w="19050">
            <a:solidFill>
              <a:srgbClr val="2528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a gomito 50">
            <a:extLst>
              <a:ext uri="{FF2B5EF4-FFF2-40B4-BE49-F238E27FC236}">
                <a16:creationId xmlns:a16="http://schemas.microsoft.com/office/drawing/2014/main" id="{853D7CC6-F651-1F0D-4FFD-838C780D8CB7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941872" y="4892289"/>
            <a:ext cx="1638999" cy="806625"/>
          </a:xfrm>
          <a:prstGeom prst="bentConnector2">
            <a:avLst/>
          </a:prstGeom>
          <a:ln w="19050">
            <a:solidFill>
              <a:srgbClr val="2528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Elemento grafico 61" descr="Antenna con riempimento a tinta unita">
            <a:extLst>
              <a:ext uri="{FF2B5EF4-FFF2-40B4-BE49-F238E27FC236}">
                <a16:creationId xmlns:a16="http://schemas.microsoft.com/office/drawing/2014/main" id="{0660BAF6-B8CA-6FB1-546F-4E7132C0F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98491" y="2345753"/>
            <a:ext cx="703006" cy="703006"/>
          </a:xfrm>
          <a:prstGeom prst="rect">
            <a:avLst/>
          </a:prstGeom>
        </p:spPr>
      </p:pic>
      <p:sp>
        <p:nvSpPr>
          <p:cNvPr id="65" name="Rettangolo 64">
            <a:extLst>
              <a:ext uri="{FF2B5EF4-FFF2-40B4-BE49-F238E27FC236}">
                <a16:creationId xmlns:a16="http://schemas.microsoft.com/office/drawing/2014/main" id="{6EBE7257-C5E6-7418-E2E5-C51B13DE3A61}"/>
              </a:ext>
            </a:extLst>
          </p:cNvPr>
          <p:cNvSpPr/>
          <p:nvPr/>
        </p:nvSpPr>
        <p:spPr>
          <a:xfrm>
            <a:off x="5627114" y="3179520"/>
            <a:ext cx="1333066" cy="906143"/>
          </a:xfrm>
          <a:prstGeom prst="rect">
            <a:avLst/>
          </a:prstGeom>
          <a:noFill/>
          <a:ln w="28575">
            <a:solidFill>
              <a:srgbClr val="252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>
                <a:solidFill>
                  <a:srgbClr val="262626">
                    <a:lumMod val="65000"/>
                    <a:lumOff val="35000"/>
                  </a:srgbClr>
                </a:solidFill>
                <a:latin typeface="Fira Sans Medium" panose="020B0503050000020004" pitchFamily="34" charset="0"/>
              </a:rPr>
              <a:t>Server TCP</a:t>
            </a:r>
          </a:p>
        </p:txBody>
      </p:sp>
      <p:cxnSp>
        <p:nvCxnSpPr>
          <p:cNvPr id="68" name="Connettore a gomito 67">
            <a:extLst>
              <a:ext uri="{FF2B5EF4-FFF2-40B4-BE49-F238E27FC236}">
                <a16:creationId xmlns:a16="http://schemas.microsoft.com/office/drawing/2014/main" id="{A07928DD-B4A2-E9DC-1A8B-340300CEE6D2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451026" y="3575905"/>
            <a:ext cx="1209933" cy="65308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25282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3" name="Graphic 1" descr="Database">
            <a:extLst>
              <a:ext uri="{FF2B5EF4-FFF2-40B4-BE49-F238E27FC236}">
                <a16:creationId xmlns:a16="http://schemas.microsoft.com/office/drawing/2014/main" id="{4EE0D593-56A7-060D-3FC8-465402D21F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0573" y="4424875"/>
            <a:ext cx="914400" cy="914400"/>
          </a:xfrm>
          <a:prstGeom prst="rect">
            <a:avLst/>
          </a:prstGeom>
        </p:spPr>
      </p:pic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6A3FEC7D-13DA-8CA5-6430-42C38153D06C}"/>
              </a:ext>
            </a:extLst>
          </p:cNvPr>
          <p:cNvCxnSpPr>
            <a:cxnSpLocks/>
            <a:stCxn id="65" idx="3"/>
            <a:endCxn id="73" idx="0"/>
          </p:cNvCxnSpPr>
          <p:nvPr/>
        </p:nvCxnSpPr>
        <p:spPr>
          <a:xfrm>
            <a:off x="6960180" y="3632592"/>
            <a:ext cx="1067593" cy="792283"/>
          </a:xfrm>
          <a:prstGeom prst="bentConnector2">
            <a:avLst/>
          </a:prstGeom>
          <a:ln w="19050">
            <a:solidFill>
              <a:srgbClr val="2528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396168EA-DC6D-7CB4-56F7-0BA3F0CB666F}"/>
              </a:ext>
            </a:extLst>
          </p:cNvPr>
          <p:cNvSpPr txBox="1"/>
          <p:nvPr/>
        </p:nvSpPr>
        <p:spPr>
          <a:xfrm>
            <a:off x="6881568" y="4652538"/>
            <a:ext cx="914400" cy="43261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300" noProof="0" err="1">
                <a:solidFill>
                  <a:srgbClr val="727272"/>
                </a:solidFill>
                <a:latin typeface="Fira Sans Medium" panose="020B0603050000020004" pitchFamily="34" charset="0"/>
              </a:rPr>
              <a:t>InfluxDB</a:t>
            </a:r>
            <a:endParaRPr lang="en-US" sz="1300" b="0" noProof="0">
              <a:solidFill>
                <a:srgbClr val="727272"/>
              </a:solidFill>
              <a:latin typeface="Fira Sans Medium" panose="020B0603050000020004" pitchFamily="34" charset="0"/>
            </a:endParaRP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107B03BD-D8BA-E2DF-684E-CCE114B71991}"/>
              </a:ext>
            </a:extLst>
          </p:cNvPr>
          <p:cNvSpPr/>
          <p:nvPr/>
        </p:nvSpPr>
        <p:spPr>
          <a:xfrm>
            <a:off x="5627114" y="5339275"/>
            <a:ext cx="1638999" cy="906143"/>
          </a:xfrm>
          <a:prstGeom prst="rect">
            <a:avLst/>
          </a:prstGeom>
          <a:noFill/>
          <a:ln w="28575">
            <a:solidFill>
              <a:srgbClr val="252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>
                <a:solidFill>
                  <a:srgbClr val="262626">
                    <a:lumMod val="65000"/>
                    <a:lumOff val="35000"/>
                  </a:srgbClr>
                </a:solidFill>
                <a:latin typeface="Fira Sans Medium" panose="020B0503050000020004" pitchFamily="34" charset="0"/>
              </a:rPr>
              <a:t>Live Visualization</a:t>
            </a:r>
          </a:p>
        </p:txBody>
      </p:sp>
      <p:cxnSp>
        <p:nvCxnSpPr>
          <p:cNvPr id="81" name="Connettore a gomito 80">
            <a:extLst>
              <a:ext uri="{FF2B5EF4-FFF2-40B4-BE49-F238E27FC236}">
                <a16:creationId xmlns:a16="http://schemas.microsoft.com/office/drawing/2014/main" id="{DCE45390-C811-F9C3-FC60-B89670B1EA22}"/>
              </a:ext>
            </a:extLst>
          </p:cNvPr>
          <p:cNvCxnSpPr>
            <a:cxnSpLocks/>
            <a:stCxn id="73" idx="2"/>
            <a:endCxn id="80" idx="3"/>
          </p:cNvCxnSpPr>
          <p:nvPr/>
        </p:nvCxnSpPr>
        <p:spPr>
          <a:xfrm rot="5400000">
            <a:off x="7420407" y="5184981"/>
            <a:ext cx="453072" cy="761660"/>
          </a:xfrm>
          <a:prstGeom prst="bentConnector2">
            <a:avLst/>
          </a:prstGeom>
          <a:ln w="19050">
            <a:solidFill>
              <a:srgbClr val="2528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60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01C6C4-864C-C048-BB32-8A0EEAE7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4A954-C260-E84D-8B85-4D54550A05DF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4AB1225-25C2-B240-9833-49A7D7C6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latin typeface="Roboto Slab"/>
                <a:ea typeface="Roboto Slab"/>
                <a:cs typeface="Roboto Slab"/>
              </a:rPr>
              <a:t>Main_controller.py pipeline</a:t>
            </a:r>
            <a:endParaRPr lang="en-US" noProof="0">
              <a:cs typeface="Roboto Slab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2BE310C-1654-4CFD-878E-2D5AC5D19DA6}"/>
              </a:ext>
            </a:extLst>
          </p:cNvPr>
          <p:cNvSpPr txBox="1"/>
          <p:nvPr/>
        </p:nvSpPr>
        <p:spPr>
          <a:xfrm>
            <a:off x="626112" y="4351759"/>
            <a:ext cx="7886700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noProof="0">
                <a:latin typeface="Fira Sans Medium" panose="020B0603050000020004" pitchFamily="34" charset="0"/>
                <a:ea typeface="+mn-lt"/>
                <a:cs typeface="+mn-lt"/>
              </a:rPr>
              <a:t>The </a:t>
            </a:r>
            <a:r>
              <a:rPr lang="en-US" sz="1200" noProof="0">
                <a:latin typeface="Fira Sans Medium" panose="020B0603050000020004" pitchFamily="34" charset="0"/>
              </a:rPr>
              <a:t>main_controller.py</a:t>
            </a:r>
            <a:r>
              <a:rPr lang="en-US" sz="1200" noProof="0">
                <a:latin typeface="Fira Sans Medium" panose="020B0603050000020004" pitchFamily="34" charset="0"/>
                <a:ea typeface="+mn-lt"/>
                <a:cs typeface="+mn-lt"/>
              </a:rPr>
              <a:t> script manages the connection with the rover (Raspberry Pi) and starts the server and visualization scripts in the following order:</a:t>
            </a:r>
            <a:endParaRPr lang="en-US" sz="1200" noProof="0">
              <a:latin typeface="Fira Sans Medium" panose="020B0603050000020004" pitchFamily="34" charset="0"/>
            </a:endParaRPr>
          </a:p>
          <a:p>
            <a:pPr marL="228600" indent="-228600">
              <a:buAutoNum type="arabicPeriod"/>
            </a:pPr>
            <a:r>
              <a:rPr lang="en-US" sz="1200">
                <a:latin typeface="Fira Sans Medium"/>
                <a:ea typeface="+mn-lt"/>
                <a:cs typeface="+mn-lt"/>
              </a:rPr>
              <a:t>uses</a:t>
            </a:r>
            <a:r>
              <a:rPr lang="en-US" sz="1200" noProof="0">
                <a:latin typeface="Fira Sans Medium"/>
                <a:ea typeface="+mn-lt"/>
                <a:cs typeface="+mn-lt"/>
              </a:rPr>
              <a:t> SSH to start the RTKLIB instance on the Raspberry Pi</a:t>
            </a:r>
          </a:p>
          <a:p>
            <a:pPr marL="228600" indent="-228600">
              <a:buAutoNum type="arabicPeriod"/>
            </a:pPr>
            <a:r>
              <a:rPr lang="en-US" sz="1200">
                <a:latin typeface="Fira Sans Medium"/>
                <a:ea typeface="Verdana" panose="020B0604030504040204"/>
              </a:rPr>
              <a:t>server_rtk.</a:t>
            </a:r>
            <a:r>
              <a:rPr lang="en-US" sz="1200" noProof="0">
                <a:latin typeface="Fira Sans Medium"/>
                <a:ea typeface="Verdana" panose="020B0604030504040204"/>
              </a:rPr>
              <a:t>py</a:t>
            </a:r>
            <a:r>
              <a:rPr lang="en-US" sz="1200" noProof="0">
                <a:latin typeface="Fira Sans Medium"/>
                <a:ea typeface="+mn-lt"/>
                <a:cs typeface="+mn-lt"/>
              </a:rPr>
              <a:t> – handles the rover data stream and the database</a:t>
            </a:r>
          </a:p>
          <a:p>
            <a:pPr marL="228600" indent="-228600">
              <a:buAutoNum type="arabicPeriod"/>
            </a:pPr>
            <a:r>
              <a:rPr lang="en-US" sz="1200">
                <a:latin typeface="Fira Sans Medium"/>
                <a:ea typeface="Verdana" panose="020B0604030504040204"/>
              </a:rPr>
              <a:t>live_plotter.</a:t>
            </a:r>
            <a:r>
              <a:rPr lang="en-US" sz="1200" noProof="0">
                <a:latin typeface="Fira Sans Medium"/>
                <a:ea typeface="Verdana" panose="020B0604030504040204"/>
              </a:rPr>
              <a:t>py</a:t>
            </a:r>
            <a:r>
              <a:rPr lang="en-US" sz="1200" noProof="0">
                <a:latin typeface="Fira Sans Medium"/>
                <a:ea typeface="+mn-lt"/>
                <a:cs typeface="+mn-lt"/>
              </a:rPr>
              <a:t> - to visualize the data on the DB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0BA5E47-12A5-81DF-1051-C8E477A37DCD}"/>
              </a:ext>
            </a:extLst>
          </p:cNvPr>
          <p:cNvSpPr txBox="1"/>
          <p:nvPr/>
        </p:nvSpPr>
        <p:spPr>
          <a:xfrm>
            <a:off x="628651" y="5588399"/>
            <a:ext cx="78867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noProof="0">
                <a:latin typeface="Fira Sans Medium" panose="020B0603050000020004" pitchFamily="34" charset="0"/>
                <a:ea typeface="+mn-lt"/>
                <a:cs typeface="+mn-lt"/>
              </a:rPr>
              <a:t>On </a:t>
            </a:r>
            <a:r>
              <a:rPr lang="en-US" sz="1200" noProof="0" err="1">
                <a:latin typeface="Fira Sans Medium" panose="020B0603050000020004" pitchFamily="34" charset="0"/>
                <a:ea typeface="+mn-lt"/>
                <a:cs typeface="+mn-lt"/>
              </a:rPr>
              <a:t>stdout</a:t>
            </a:r>
            <a:r>
              <a:rPr lang="en-US" sz="1200" noProof="0">
                <a:latin typeface="Fira Sans Medium" panose="020B0603050000020004" pitchFamily="34" charset="0"/>
                <a:ea typeface="+mn-lt"/>
                <a:cs typeface="+mn-lt"/>
              </a:rPr>
              <a:t>, the software prints every step of the procedure, displaying error messages and information about the communication status</a:t>
            </a:r>
            <a:r>
              <a:rPr lang="en-US" sz="1200" noProof="0">
                <a:latin typeface="Fira Sans Medium" panose="020B0603050000020004" pitchFamily="34" charset="0"/>
              </a:rPr>
              <a:t>. </a:t>
            </a:r>
            <a:endParaRPr lang="en-US" sz="1200" noProof="0">
              <a:latin typeface="Fira Sans Medium" panose="020B0603050000020004" pitchFamily="34" charset="0"/>
              <a:ea typeface="Verdana" panose="020B0604030504040204"/>
            </a:endParaRPr>
          </a:p>
        </p:txBody>
      </p:sp>
      <p:pic>
        <p:nvPicPr>
          <p:cNvPr id="6" name="Picture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0CC649E-8D2D-63B8-4076-DFBEBB5B31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9" t="-114" r="2592" b="434"/>
          <a:stretch>
            <a:fillRect/>
          </a:stretch>
        </p:blipFill>
        <p:spPr>
          <a:xfrm>
            <a:off x="626111" y="858457"/>
            <a:ext cx="7889218" cy="319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01C6C4-864C-C048-BB32-8A0EEAE7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C4A954-C260-E84D-8B85-4D54550A05DF}" type="slidenum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Fira Sans Medium" panose="020B05030500000200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Fira Sans Medium" panose="020B0503050000020004" pitchFamily="34" charset="0"/>
              <a:ea typeface="+mn-ea"/>
              <a:cs typeface="+mn-cs"/>
            </a:endParaRP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89B3DBB1-FBD7-B44F-B024-840F1697A8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>
                <a:latin typeface="Fira Sans Medium"/>
              </a:rPr>
              <a:t>Test 18/12/2025 Valletta </a:t>
            </a:r>
            <a:r>
              <a:rPr lang="en-US" dirty="0" err="1">
                <a:latin typeface="Fira Sans Medium"/>
              </a:rPr>
              <a:t>Puggia</a:t>
            </a:r>
            <a:r>
              <a:rPr lang="en-US" noProof="0" dirty="0">
                <a:latin typeface="Fira Sans Medium"/>
              </a:rPr>
              <a:t> DIBRIS</a:t>
            </a:r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4AB1225-25C2-B240-9833-49A7D7C6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latin typeface="Roboto Slab"/>
                <a:ea typeface="Roboto Slab"/>
                <a:cs typeface="Roboto Slab"/>
              </a:rPr>
              <a:t>Video demo</a:t>
            </a:r>
            <a:r>
              <a:rPr lang="en-US" b="0" noProof="0">
                <a:latin typeface="Roboto Slab"/>
                <a:ea typeface="Roboto Slab"/>
                <a:cs typeface="Roboto Slab"/>
              </a:rPr>
              <a:t> </a:t>
            </a:r>
            <a:endParaRPr lang="en-US" noProof="0"/>
          </a:p>
        </p:txBody>
      </p:sp>
      <p:pic>
        <p:nvPicPr>
          <p:cNvPr id="5" name="Demo">
            <a:hlinkClick r:id="" action="ppaction://media"/>
            <a:extLst>
              <a:ext uri="{FF2B5EF4-FFF2-40B4-BE49-F238E27FC236}">
                <a16:creationId xmlns:a16="http://schemas.microsoft.com/office/drawing/2014/main" id="{D5A70905-A475-F7D1-8538-14F2C81ABF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9387" y="1351603"/>
            <a:ext cx="7694393" cy="432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5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7B6F00A-ED98-374D-A77E-D963C5F2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8662"/>
          </a:xfrm>
        </p:spPr>
        <p:txBody>
          <a:bodyPr anchor="ctr">
            <a:normAutofit/>
          </a:bodyPr>
          <a:lstStyle/>
          <a:p>
            <a:r>
              <a:rPr lang="en-GB">
                <a:latin typeface="Roboto Slab"/>
                <a:ea typeface="Roboto Slab"/>
                <a:cs typeface="Roboto Slab"/>
              </a:rPr>
              <a:t>Results</a:t>
            </a:r>
            <a:endParaRPr lang="en-GB">
              <a:cs typeface="Roboto Slab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F3D1F5-AD70-BE43-9175-A167253EB7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5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C4A954-C260-E84D-8B85-4D54550A05DF}" type="slidenum">
              <a:rPr lang="it-IT" smtClean="0"/>
              <a:pPr>
                <a:spcAft>
                  <a:spcPts val="600"/>
                </a:spcAft>
              </a:pPr>
              <a:t>9</a:t>
            </a:fld>
            <a:endParaRPr lang="it-IT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C7DFC099-6B6F-2A4F-B9BB-08792A7A1D7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650" y="1531917"/>
            <a:ext cx="7882480" cy="4037029"/>
          </a:xfrm>
        </p:spPr>
        <p:txBody>
          <a:bodyPr anchor="ctr">
            <a:normAutofit/>
          </a:bodyPr>
          <a:lstStyle/>
          <a:p>
            <a:r>
              <a:rPr lang="en-GB">
                <a:latin typeface="Fira Sans Medium"/>
              </a:rPr>
              <a:t>We achieved our main goals and reached 20cm precision on the Raspberry Pi. However, because we used low-cost hardware, the results were not always consistent.</a:t>
            </a:r>
            <a:endParaRPr lang="en-US">
              <a:latin typeface="Baskerville Old Face"/>
              <a:ea typeface="Roboto Slab"/>
              <a:cs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408519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45434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i Office">
  <a:themeElements>
    <a:clrScheme name="UniGe">
      <a:dk1>
        <a:srgbClr val="262626"/>
      </a:dk1>
      <a:lt1>
        <a:srgbClr val="FFFFFF"/>
      </a:lt1>
      <a:dk2>
        <a:srgbClr val="44546A"/>
      </a:dk2>
      <a:lt2>
        <a:srgbClr val="E7E6E6"/>
      </a:lt2>
      <a:accent1>
        <a:srgbClr val="1A9BFC"/>
      </a:accent1>
      <a:accent2>
        <a:srgbClr val="1A9BFC"/>
      </a:accent2>
      <a:accent3>
        <a:srgbClr val="1A9BFC"/>
      </a:accent3>
      <a:accent4>
        <a:srgbClr val="1A9BFC"/>
      </a:accent4>
      <a:accent5>
        <a:srgbClr val="1A9BFC"/>
      </a:accent5>
      <a:accent6>
        <a:srgbClr val="002677"/>
      </a:accent6>
      <a:hlink>
        <a:srgbClr val="1A9BFC"/>
      </a:hlink>
      <a:folHlink>
        <a:srgbClr val="00D7FC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marL="0" indent="0" algn="l">
          <a:buNone/>
          <a:defRPr sz="1050" b="0" i="1" dirty="0" smtClean="0">
            <a:latin typeface="Fira Sans" panose="020B05030500000200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cienzemfn_verde" id="{BB03598A-FD60-274C-8EEC-12467921976B}" vid="{CF565756-FBB3-7748-AEF2-8EDE8A07A36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72775489E9164B81439ACAF564CE63" ma:contentTypeVersion="9" ma:contentTypeDescription="Creare un nuovo documento." ma:contentTypeScope="" ma:versionID="0d66216f2abd449f4b12e6e0a9b2f2d4">
  <xsd:schema xmlns:xsd="http://www.w3.org/2001/XMLSchema" xmlns:xs="http://www.w3.org/2001/XMLSchema" xmlns:p="http://schemas.microsoft.com/office/2006/metadata/properties" xmlns:ns3="8d607472-a1fb-43a0-a893-5cf19805165f" xmlns:ns4="612642b2-4cac-4d8e-a08a-0d85a88a47d5" targetNamespace="http://schemas.microsoft.com/office/2006/metadata/properties" ma:root="true" ma:fieldsID="417aa67e1d7bf99003442acdff7562d6" ns3:_="" ns4:_="">
    <xsd:import namespace="8d607472-a1fb-43a0-a893-5cf19805165f"/>
    <xsd:import namespace="612642b2-4cac-4d8e-a08a-0d85a88a47d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DateTaken" minOccurs="0"/>
                <xsd:element ref="ns4:MediaServiceSearchProperties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607472-a1fb-43a0-a893-5cf19805165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642b2-4cac-4d8e-a08a-0d85a88a47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12642b2-4cac-4d8e-a08a-0d85a88a47d5" xsi:nil="true"/>
  </documentManagement>
</p:properties>
</file>

<file path=customXml/itemProps1.xml><?xml version="1.0" encoding="utf-8"?>
<ds:datastoreItem xmlns:ds="http://schemas.openxmlformats.org/officeDocument/2006/customXml" ds:itemID="{6DA8C800-191B-430D-9A11-5E6C799B8B6A}">
  <ds:schemaRefs>
    <ds:schemaRef ds:uri="612642b2-4cac-4d8e-a08a-0d85a88a47d5"/>
    <ds:schemaRef ds:uri="8d607472-a1fb-43a0-a893-5cf1980516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38CDB49-23E6-4D5A-85E7-492D21B414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EF72EC-7F4C-4037-888E-CBB453F550E1}">
  <ds:schemaRefs>
    <ds:schemaRef ds:uri="612642b2-4cac-4d8e-a08a-0d85a88a47d5"/>
    <ds:schemaRef ds:uri="8d607472-a1fb-43a0-a893-5cf19805165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1_Tema di Office</vt:lpstr>
      <vt:lpstr>GNSS positioning with RTKlib</vt:lpstr>
      <vt:lpstr>Project goals</vt:lpstr>
      <vt:lpstr>Hardware</vt:lpstr>
      <vt:lpstr>Rover</vt:lpstr>
      <vt:lpstr>Base station</vt:lpstr>
      <vt:lpstr>Software</vt:lpstr>
      <vt:lpstr>Main_controller.py pipeline</vt:lpstr>
      <vt:lpstr>Video demo </vt:lpstr>
      <vt:lpstr>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VIOTTI</dc:creator>
  <cp:revision>26</cp:revision>
  <dcterms:created xsi:type="dcterms:W3CDTF">2025-12-18T16:23:23Z</dcterms:created>
  <dcterms:modified xsi:type="dcterms:W3CDTF">2025-12-27T16:13:49Z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0x010100DF72775489E9164B81439ACAF564CE63</vt:lpwstr>
  </property>
</Properties>
</file>